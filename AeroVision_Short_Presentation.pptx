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6400" b="1">
                <a:solidFill>
                  <a:srgbClr val="63B3FF"/>
                </a:solidFill>
                <a:latin typeface="Segoe UI"/>
              </a:defRPr>
            </a:pPr>
            <a:r>
              <a:t>AEROVISION</a:t>
            </a:r>
          </a:p>
          <a:p>
            <a:pPr algn="ctr">
              <a:spcAft>
                <a:spcPts val="4000"/>
              </a:spcAft>
              <a:defRPr sz="2000">
                <a:solidFill>
                  <a:srgbClr val="E8F0FE"/>
                </a:solidFill>
                <a:latin typeface="Segoe UI"/>
              </a:defRPr>
            </a:pPr>
            <a:r>
              <a:t>Next-Generation Intelligent Airport Passenger Portal</a:t>
            </a:r>
          </a:p>
          <a:p>
            <a:pPr algn="ctr">
              <a:defRPr sz="1400" b="1">
                <a:solidFill>
                  <a:srgbClr val="8899BB"/>
                </a:solidFill>
                <a:latin typeface="Segoe UI"/>
              </a:defRPr>
            </a:pPr>
            <a:r>
              <a:t>Presented by Sriram Bhaskara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63B3FF"/>
                </a:solidFill>
                <a:latin typeface="Segoe UI"/>
              </a:defRPr>
            </a:pPr>
            <a:r>
              <a:t>The Problem vs. 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572000"/>
          </a:xfrm>
          <a:prstGeom prst="rect">
            <a:avLst/>
          </a:prstGeom>
          <a:solidFill>
            <a:srgbClr val="141C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spcAft>
                <a:spcPts val="2000"/>
              </a:spcAft>
              <a:defRPr sz="2200" b="1">
                <a:solidFill>
                  <a:srgbClr val="EF4444"/>
                </a:solidFill>
                <a:latin typeface="Segoe UI"/>
              </a:defRPr>
            </a:pPr>
            <a:r>
              <a:t>❌ THE CHALLENGES</a:t>
            </a:r>
          </a:p>
          <a:p>
            <a:pPr>
              <a:spcAft>
                <a:spcPts val="1400"/>
              </a:spcAft>
              <a:defRPr sz="1400">
                <a:solidFill>
                  <a:srgbClr val="E8F0FE"/>
                </a:solidFill>
                <a:latin typeface="Segoe UI"/>
              </a:defRPr>
            </a:pPr>
            <a:r>
              <a:t>• Unpredictable road traffic delays causing passengers to miss flight departures.</a:t>
            </a:r>
          </a:p>
          <a:p>
            <a:pPr>
              <a:spcAft>
                <a:spcPts val="1400"/>
              </a:spcAft>
              <a:defRPr sz="1400">
                <a:solidFill>
                  <a:srgbClr val="E8F0FE"/>
                </a:solidFill>
                <a:latin typeface="Segoe UI"/>
              </a:defRPr>
            </a:pPr>
            <a:r>
              <a:t>• Lack of transparency in check-in queues, terminal crowd densities, and gate congestion.</a:t>
            </a:r>
          </a:p>
          <a:p>
            <a:pPr>
              <a:spcAft>
                <a:spcPts val="1400"/>
              </a:spcAft>
              <a:defRPr sz="1400">
                <a:solidFill>
                  <a:srgbClr val="E8F0FE"/>
                </a:solidFill>
                <a:latin typeface="Segoe UI"/>
              </a:defRPr>
            </a:pPr>
            <a:r>
              <a:t>• Complicated, slow manual paperwork verifications for wheelchair and buggy bookings.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371600"/>
            <a:ext cx="5120640" cy="4572000"/>
          </a:xfrm>
          <a:prstGeom prst="rect">
            <a:avLst/>
          </a:prstGeom>
          <a:solidFill>
            <a:srgbClr val="141C2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spcAft>
                <a:spcPts val="2000"/>
              </a:spcAft>
              <a:defRPr sz="2200" b="1">
                <a:solidFill>
                  <a:srgbClr val="22C55E"/>
                </a:solidFill>
                <a:latin typeface="Segoe UI"/>
              </a:defRPr>
            </a:pPr>
            <a:r>
              <a:t>✔️ THE AEROVISION SOLUTION</a:t>
            </a:r>
          </a:p>
          <a:p>
            <a:pPr>
              <a:spcAft>
                <a:spcPts val="1400"/>
              </a:spcAft>
              <a:defRPr sz="1400">
                <a:solidFill>
                  <a:srgbClr val="E8F0FE"/>
                </a:solidFill>
                <a:latin typeface="Segoe UI"/>
              </a:defRPr>
            </a:pPr>
            <a:r>
              <a:t>• A dynamic travel planner mapping real-time routes with automated traffic-delay scaling.</a:t>
            </a:r>
          </a:p>
          <a:p>
            <a:pPr>
              <a:spcAft>
                <a:spcPts val="1400"/>
              </a:spcAft>
              <a:defRPr sz="1400">
                <a:solidFill>
                  <a:srgbClr val="E8F0FE"/>
                </a:solidFill>
                <a:latin typeface="Segoe UI"/>
              </a:defRPr>
            </a:pPr>
            <a:r>
              <a:t>• A live terminal analytics board estimating zone wait times using live flight densities.</a:t>
            </a:r>
          </a:p>
          <a:p>
            <a:pPr>
              <a:spcAft>
                <a:spcPts val="1400"/>
              </a:spcAft>
              <a:defRPr sz="1400">
                <a:solidFill>
                  <a:srgbClr val="E8F0FE"/>
                </a:solidFill>
                <a:latin typeface="Segoe UI"/>
              </a:defRPr>
            </a:pPr>
            <a:r>
              <a:t>• An instant, client-side Aadhaar OCR verification flow for senior citizen buggy &amp; wheelchair bookings.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63B3FF"/>
                </a:solidFill>
                <a:latin typeface="Segoe UI"/>
              </a:defRPr>
            </a:pPr>
            <a:r>
              <a:t>Technical Architecture &amp; Core 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63B3FF"/>
                </a:solidFill>
                <a:latin typeface="Segoe UI"/>
              </a:defRPr>
            </a:pPr>
            <a:r>
              <a:t>Frontend Stack</a:t>
            </a:r>
          </a:p>
          <a:p>
            <a:pPr>
              <a:spcAft>
                <a:spcPts val="2400"/>
              </a:spcAft>
              <a:defRPr sz="1400">
                <a:solidFill>
                  <a:srgbClr val="E8F0FE"/>
                </a:solidFill>
                <a:latin typeface="Segoe UI"/>
              </a:defRPr>
            </a:pPr>
            <a:r>
              <a:t>React.js 18, Vite (Fast HMR development server), Vanilla CSS + custom design tokens, Axios intercepters for JWT session authorization.</a:t>
            </a:r>
          </a:p>
          <a:p>
            <a:pPr>
              <a:spcAft>
                <a:spcPts val="400"/>
              </a:spcAft>
              <a:defRPr sz="1800" b="1">
                <a:solidFill>
                  <a:srgbClr val="63B3FF"/>
                </a:solidFill>
                <a:latin typeface="Segoe UI"/>
              </a:defRPr>
            </a:pPr>
            <a:r>
              <a:t>Backend Services</a:t>
            </a:r>
          </a:p>
          <a:p>
            <a:pPr>
              <a:spcAft>
                <a:spcPts val="2400"/>
              </a:spcAft>
              <a:defRPr sz="1400">
                <a:solidFill>
                  <a:srgbClr val="E8F0FE"/>
                </a:solidFill>
                <a:latin typeface="Segoe UI"/>
              </a:defRPr>
            </a:pPr>
            <a:r>
              <a:t>Node.js &amp; Express REST API, SQLite-compatible SQL.js database, dynamic Socket.io WebSocket triggers for live flight alerts.</a:t>
            </a:r>
          </a:p>
          <a:p>
            <a:pPr>
              <a:spcAft>
                <a:spcPts val="400"/>
              </a:spcAft>
              <a:defRPr sz="1800" b="1">
                <a:solidFill>
                  <a:srgbClr val="63B3FF"/>
                </a:solidFill>
                <a:latin typeface="Segoe UI"/>
              </a:defRPr>
            </a:pPr>
            <a:r>
              <a:t>API Integrations</a:t>
            </a:r>
          </a:p>
          <a:p>
            <a:pPr>
              <a:spcAft>
                <a:spcPts val="2400"/>
              </a:spcAft>
              <a:defRPr sz="1400">
                <a:solidFill>
                  <a:srgbClr val="E8F0FE"/>
                </a:solidFill>
                <a:latin typeface="Segoe UI"/>
              </a:defRPr>
            </a:pPr>
            <a:r>
              <a:t>AeroDataBox API (real-time flight schedules &amp; gates), OpenWeather API (current airfield weather status), OpenRouteService &amp; Nominatim/OSRM (travel routing engine).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63B3FF"/>
                </a:solidFill>
                <a:latin typeface="Segoe UI"/>
              </a:defRPr>
            </a:pPr>
            <a:r>
              <a:t>Key Feature — Live Board &amp; Active Radar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63B3FF"/>
                </a:solidFill>
                <a:latin typeface="Segoe UI"/>
              </a:defRPr>
            </a:pPr>
            <a:r>
              <a:t>Real-time FIDS Flight Board</a:t>
            </a:r>
          </a:p>
          <a:p>
            <a:pPr>
              <a:spcAft>
                <a:spcPts val="2400"/>
              </a:spcAft>
              <a:defRPr sz="1400">
                <a:solidFill>
                  <a:srgbClr val="E8F0FE"/>
                </a:solidFill>
                <a:latin typeface="Segoe UI"/>
              </a:defRPr>
            </a:pPr>
            <a:r>
              <a:t>Pulls active airport schedules. Features automatic fallback to a local mock database generator in case external API limits are exceeded (ensures 100% demo uptime).</a:t>
            </a:r>
          </a:p>
          <a:p>
            <a:pPr>
              <a:spcAft>
                <a:spcPts val="400"/>
              </a:spcAft>
              <a:defRPr sz="1800" b="1">
                <a:solidFill>
                  <a:srgbClr val="63B3FF"/>
                </a:solidFill>
                <a:latin typeface="Segoe UI"/>
              </a:defRPr>
            </a:pPr>
            <a:r>
              <a:t>Dynamic Radar Simulator</a:t>
            </a:r>
          </a:p>
          <a:p>
            <a:pPr>
              <a:spcAft>
                <a:spcPts val="2400"/>
              </a:spcAft>
              <a:defRPr sz="1400">
                <a:solidFill>
                  <a:srgbClr val="E8F0FE"/>
                </a:solidFill>
                <a:latin typeface="Segoe UI"/>
              </a:defRPr>
            </a:pPr>
            <a:r>
              <a:t>Simulates live aircraft positions within a 2.0-degree radius of the runways. Extracted schedule timestamps are converted to vectors so planes move in real-time.</a:t>
            </a:r>
          </a:p>
          <a:p>
            <a:pPr>
              <a:spcAft>
                <a:spcPts val="400"/>
              </a:spcAft>
              <a:defRPr sz="1800" b="1">
                <a:solidFill>
                  <a:srgbClr val="63B3FF"/>
                </a:solidFill>
                <a:latin typeface="Segoe UI"/>
              </a:defRPr>
            </a:pPr>
            <a:r>
              <a:t>Clustering Fix</a:t>
            </a:r>
          </a:p>
          <a:p>
            <a:pPr>
              <a:spcAft>
                <a:spcPts val="2400"/>
              </a:spcAft>
              <a:defRPr sz="1400">
                <a:solidFill>
                  <a:srgbClr val="E8F0FE"/>
                </a:solidFill>
                <a:latin typeface="Segoe UI"/>
              </a:defRPr>
            </a:pPr>
            <a:r>
              <a:t>Replaced static clamping with a rolling 90-minute tracking window (elapsed flight minutes for departures, remaining descent minutes for arrivals). Planes remain naturally dispersed across the sky without forming artificial rings.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63B3FF"/>
                </a:solidFill>
                <a:latin typeface="Segoe UI"/>
              </a:defRPr>
            </a:pPr>
            <a:r>
              <a:t>Key Feature — Smart Assist &amp; Travel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63B3FF"/>
                </a:solidFill>
                <a:latin typeface="Segoe UI"/>
              </a:defRPr>
            </a:pPr>
            <a:r>
              <a:t>Aadhaar OCR Verification</a:t>
            </a:r>
          </a:p>
          <a:p>
            <a:pPr>
              <a:spcAft>
                <a:spcPts val="2400"/>
              </a:spcAft>
              <a:defRPr sz="1400">
                <a:solidFill>
                  <a:srgbClr val="E8F0FE"/>
                </a:solidFill>
                <a:latin typeface="Segoe UI"/>
              </a:defRPr>
            </a:pPr>
            <a:r>
              <a:t>Integrates client-side OCR (Tesseract.js) to scan uploaded Aadhaar cards. Extracts the Date of Birth (DOB) or Year of Birth (YOB) via text pattern parsing, calculates the age, and auto-fills the form.</a:t>
            </a:r>
          </a:p>
          <a:p>
            <a:pPr>
              <a:spcAft>
                <a:spcPts val="400"/>
              </a:spcAft>
              <a:defRPr sz="1800" b="1">
                <a:solidFill>
                  <a:srgbClr val="63B3FF"/>
                </a:solidFill>
                <a:latin typeface="Segoe UI"/>
              </a:defRPr>
            </a:pPr>
            <a:r>
              <a:t>Senior Citizen Classification</a:t>
            </a:r>
          </a:p>
          <a:p>
            <a:pPr>
              <a:spcAft>
                <a:spcPts val="2400"/>
              </a:spcAft>
              <a:defRPr sz="1400">
                <a:solidFill>
                  <a:srgbClr val="E8F0FE"/>
                </a:solidFill>
                <a:latin typeface="Segoe UI"/>
              </a:defRPr>
            </a:pPr>
            <a:r>
              <a:t>Instantly verifies if the extracted age is 60+ to auto-approve free buggy or wheelchair bookings. Reduces manual verification processes for accessibility.</a:t>
            </a:r>
          </a:p>
          <a:p>
            <a:pPr>
              <a:spcAft>
                <a:spcPts val="400"/>
              </a:spcAft>
              <a:defRPr sz="1800" b="1">
                <a:solidFill>
                  <a:srgbClr val="63B3FF"/>
                </a:solidFill>
                <a:latin typeface="Segoe UI"/>
              </a:defRPr>
            </a:pPr>
            <a:r>
              <a:t>Traffic-Aware Travel Planner</a:t>
            </a:r>
          </a:p>
          <a:p>
            <a:pPr>
              <a:spcAft>
                <a:spcPts val="2400"/>
              </a:spcAft>
              <a:defRPr sz="1400">
                <a:solidFill>
                  <a:srgbClr val="E8F0FE"/>
                </a:solidFill>
                <a:latin typeface="Segoe UI"/>
              </a:defRPr>
            </a:pPr>
            <a:r>
              <a:t>Calculates route distances to BLR airport via OSRM. Solves standard speed assumptions by applying time-of-day traffic multipliers in IST (Peak hours: 1.95x delay, Mid-day: 1.45x) to give highly accurate real-life driving times.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63B3FF"/>
                </a:solidFill>
                <a:latin typeface="Segoe UI"/>
              </a:defRPr>
            </a:pPr>
            <a: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63B3FF"/>
                </a:solidFill>
                <a:latin typeface="Segoe UI"/>
              </a:defRPr>
            </a:pPr>
            <a:r>
              <a:t>Project Status</a:t>
            </a:r>
          </a:p>
          <a:p>
            <a:pPr>
              <a:spcAft>
                <a:spcPts val="2400"/>
              </a:spcAft>
              <a:defRPr sz="1400">
                <a:solidFill>
                  <a:srgbClr val="E8F0FE"/>
                </a:solidFill>
                <a:latin typeface="Segoe UI"/>
              </a:defRPr>
            </a:pPr>
            <a:r>
              <a:t>Fully functional prototype with 28/28 integration test cases passing successfully. Responsive layout tested across mobile viewports, and repository successfully deployed to GitHub.</a:t>
            </a:r>
          </a:p>
          <a:p>
            <a:pPr>
              <a:spcAft>
                <a:spcPts val="400"/>
              </a:spcAft>
              <a:defRPr sz="1800" b="1">
                <a:solidFill>
                  <a:srgbClr val="63B3FF"/>
                </a:solidFill>
                <a:latin typeface="Segoe UI"/>
              </a:defRPr>
            </a:pPr>
            <a:r>
              <a:t>Operational Value</a:t>
            </a:r>
          </a:p>
          <a:p>
            <a:pPr>
              <a:spcAft>
                <a:spcPts val="2400"/>
              </a:spcAft>
              <a:defRPr sz="1400">
                <a:solidFill>
                  <a:srgbClr val="E8F0FE"/>
                </a:solidFill>
                <a:latin typeface="Segoe UI"/>
              </a:defRPr>
            </a:pPr>
            <a:r>
              <a:t>Demonstrates how real-time flight schedules (FIDS) can be integrated with accessibility services, geocoding engines, and local traffic matrices to optimize the travel loop.</a:t>
            </a:r>
          </a:p>
          <a:p>
            <a:pPr>
              <a:spcAft>
                <a:spcPts val="400"/>
              </a:spcAft>
              <a:defRPr sz="1800" b="1">
                <a:solidFill>
                  <a:srgbClr val="63B3FF"/>
                </a:solidFill>
                <a:latin typeface="Segoe UI"/>
              </a:defRPr>
            </a:pPr>
            <a:r>
              <a:t>Future Roadmap</a:t>
            </a:r>
          </a:p>
          <a:p>
            <a:pPr>
              <a:spcAft>
                <a:spcPts val="2400"/>
              </a:spcAft>
              <a:defRPr sz="1400">
                <a:solidFill>
                  <a:srgbClr val="E8F0FE"/>
                </a:solidFill>
                <a:latin typeface="Segoe UI"/>
              </a:defRPr>
            </a:pPr>
            <a:r>
              <a:t>Integrating live terminal camera feeds for computer vision crowd estimations, adding payment gateways for paid golf cart segments, and implementing push notification alerts for flight delay warnings.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