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  <a:defRPr sz="4800" b="1">
                <a:solidFill>
                  <a:srgbClr val="63B3FF"/>
                </a:solidFill>
                <a:latin typeface="Segoe UI"/>
              </a:defRPr>
            </a:pPr>
            <a:r>
              <a:t>AEROVISION</a:t>
            </a:r>
          </a:p>
          <a:p>
            <a:pPr>
              <a:defRPr sz="1800">
                <a:solidFill>
                  <a:srgbClr val="E8F0FE"/>
                </a:solidFill>
                <a:latin typeface="Segoe UI"/>
              </a:defRPr>
            </a:pPr>
            <a:r>
              <a:t>Real-Time Flight Intelligence &amp; Accessible Airport Portal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737360"/>
            <a:ext cx="10728655" cy="36576"/>
          </a:xfrm>
          <a:prstGeom prst="rect">
            <a:avLst/>
          </a:prstGeom>
          <a:solidFill>
            <a:srgbClr val="63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728655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600" b="1">
                <a:solidFill>
                  <a:srgbClr val="63B3FF"/>
                </a:solidFill>
                <a:latin typeface="Segoe UI"/>
              </a:defRPr>
            </a:pPr>
            <a:r>
              <a:t>Presented by: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468880"/>
            <a:ext cx="5120640" cy="1188720"/>
          </a:xfrm>
          <a:prstGeom prst="rect">
            <a:avLst/>
          </a:prstGeom>
          <a:solidFill>
            <a:srgbClr val="141C2E"/>
          </a:solidFill>
          <a:ln w="19050">
            <a:solidFill>
              <a:srgbClr val="63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91440"/>
          <a:lstStyle/>
          <a:p>
            <a:pPr algn="ctr">
              <a:spcAft>
                <a:spcPts val="400"/>
              </a:spcAft>
              <a:defRPr sz="1600" b="1">
                <a:solidFill>
                  <a:srgbClr val="E8F0FE"/>
                </a:solidFill>
                <a:latin typeface="Segoe UI"/>
              </a:defRPr>
            </a:pPr>
            <a:r>
              <a:t>Sriram Bhaskara</a:t>
            </a:r>
          </a:p>
          <a:p>
            <a:pPr>
              <a:defRPr sz="1300">
                <a:solidFill>
                  <a:srgbClr val="8899BB"/>
                </a:solidFill>
                <a:latin typeface="Segoe UI"/>
              </a:defRPr>
            </a:pPr>
            <a:r>
              <a:t>USN - 1CR25CS187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2468880"/>
            <a:ext cx="5120640" cy="1188720"/>
          </a:xfrm>
          <a:prstGeom prst="rect">
            <a:avLst/>
          </a:prstGeom>
          <a:solidFill>
            <a:srgbClr val="141C2E"/>
          </a:solidFill>
          <a:ln w="19050">
            <a:solidFill>
              <a:srgbClr val="63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91440"/>
          <a:lstStyle/>
          <a:p>
            <a:pPr algn="ctr">
              <a:spcAft>
                <a:spcPts val="400"/>
              </a:spcAft>
              <a:defRPr sz="1600" b="1">
                <a:solidFill>
                  <a:srgbClr val="E8F0FE"/>
                </a:solidFill>
                <a:latin typeface="Segoe UI"/>
              </a:defRPr>
            </a:pPr>
            <a:r>
              <a:t>Suhaas S Reddy</a:t>
            </a:r>
          </a:p>
          <a:p>
            <a:pPr>
              <a:defRPr sz="1300">
                <a:solidFill>
                  <a:srgbClr val="8899BB"/>
                </a:solidFill>
                <a:latin typeface="Segoe UI"/>
              </a:defRPr>
            </a:pPr>
            <a:r>
              <a:t>USN - 1CR25CS188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931920"/>
            <a:ext cx="5120640" cy="1188720"/>
          </a:xfrm>
          <a:prstGeom prst="rect">
            <a:avLst/>
          </a:prstGeom>
          <a:solidFill>
            <a:srgbClr val="141C2E"/>
          </a:solidFill>
          <a:ln w="19050">
            <a:solidFill>
              <a:srgbClr val="63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91440"/>
          <a:lstStyle/>
          <a:p>
            <a:pPr algn="ctr">
              <a:spcAft>
                <a:spcPts val="400"/>
              </a:spcAft>
              <a:defRPr sz="1600" b="1">
                <a:solidFill>
                  <a:srgbClr val="E8F0FE"/>
                </a:solidFill>
                <a:latin typeface="Segoe UI"/>
              </a:defRPr>
            </a:pPr>
            <a:r>
              <a:t>Ratan Ojha</a:t>
            </a:r>
          </a:p>
          <a:p>
            <a:pPr>
              <a:defRPr sz="1300">
                <a:solidFill>
                  <a:srgbClr val="8899BB"/>
                </a:solidFill>
                <a:latin typeface="Segoe UI"/>
              </a:defRPr>
            </a:pPr>
            <a:r>
              <a:t>USN - 1CR25EC167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3931920"/>
            <a:ext cx="5120640" cy="1188720"/>
          </a:xfrm>
          <a:prstGeom prst="rect">
            <a:avLst/>
          </a:prstGeom>
          <a:solidFill>
            <a:srgbClr val="141C2E"/>
          </a:solidFill>
          <a:ln w="19050">
            <a:solidFill>
              <a:srgbClr val="63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91440"/>
          <a:lstStyle/>
          <a:p>
            <a:pPr algn="ctr">
              <a:spcAft>
                <a:spcPts val="400"/>
              </a:spcAft>
              <a:defRPr sz="1600" b="1">
                <a:solidFill>
                  <a:srgbClr val="E8F0FE"/>
                </a:solidFill>
                <a:latin typeface="Segoe UI"/>
              </a:defRPr>
            </a:pPr>
            <a:r>
              <a:t>Rechitha V</a:t>
            </a:r>
          </a:p>
          <a:p>
            <a:pPr>
              <a:defRPr sz="1300">
                <a:solidFill>
                  <a:srgbClr val="8899BB"/>
                </a:solidFill>
                <a:latin typeface="Segoe UI"/>
              </a:defRPr>
            </a:pPr>
            <a:r>
              <a:t>USN - 1CR25EC168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52160"/>
            <a:ext cx="10728655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ctr">
              <a:defRPr sz="1200" b="1">
                <a:solidFill>
                  <a:srgbClr val="8899BB"/>
                </a:solidFill>
                <a:latin typeface="Segoe UI"/>
              </a:defRPr>
            </a:pPr>
            <a:r>
              <a:t>Mini Project Presentation  |  Semester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63B3FF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8899BB"/>
                </a:solidFill>
                <a:latin typeface="Segoe UI"/>
              </a:defRPr>
            </a:pPr>
            <a:r>
              <a:t>The Challenges of Modern Air Travel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1005840"/>
          </a:xfrm>
          <a:prstGeom prst="rect">
            <a:avLst/>
          </a:prstGeom>
          <a:solidFill>
            <a:srgbClr val="14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/>
          <a:lstStyle/>
          <a:p>
            <a:pPr algn="ctr">
              <a:spcAft>
                <a:spcPts val="300"/>
              </a:spcAft>
              <a:defRPr sz="1600" b="1">
                <a:solidFill>
                  <a:srgbClr val="F59E0B"/>
                </a:solidFill>
                <a:latin typeface="Segoe UI"/>
              </a:defRPr>
            </a:pPr>
            <a:r>
              <a:t>01  |  Fragmented Flight Updates</a:t>
            </a:r>
          </a:p>
          <a:p>
            <a:pPr>
              <a:defRPr sz="1300">
                <a:solidFill>
                  <a:srgbClr val="E8F0FE"/>
                </a:solidFill>
                <a:latin typeface="Segoe UI"/>
              </a:defRPr>
            </a:pPr>
            <a:r>
              <a:t>Passengers struggle with delayed or out-of-sync flight tracking data scattered across different airline systems and boards.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834640"/>
            <a:ext cx="10728655" cy="1005840"/>
          </a:xfrm>
          <a:prstGeom prst="rect">
            <a:avLst/>
          </a:prstGeom>
          <a:solidFill>
            <a:srgbClr val="14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/>
          <a:lstStyle/>
          <a:p>
            <a:pPr algn="ctr">
              <a:spcAft>
                <a:spcPts val="300"/>
              </a:spcAft>
              <a:defRPr sz="1600" b="1">
                <a:solidFill>
                  <a:srgbClr val="F59E0B"/>
                </a:solidFill>
                <a:latin typeface="Segoe UI"/>
              </a:defRPr>
            </a:pPr>
            <a:r>
              <a:t>02  |  No Road Traffic Predictability</a:t>
            </a:r>
          </a:p>
          <a:p>
            <a:pPr>
              <a:defRPr sz="1300">
                <a:solidFill>
                  <a:srgbClr val="E8F0FE"/>
                </a:solidFill>
                <a:latin typeface="Segoe UI"/>
              </a:defRPr>
            </a:pPr>
            <a:r>
              <a:t>Existing navigation maps show static travel times that fail to account for Bengaluru's severe peak-hour traffic gridlocks on the way to BLR Airport.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023360"/>
            <a:ext cx="10728655" cy="1005840"/>
          </a:xfrm>
          <a:prstGeom prst="rect">
            <a:avLst/>
          </a:prstGeom>
          <a:solidFill>
            <a:srgbClr val="14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/>
          <a:lstStyle/>
          <a:p>
            <a:pPr algn="ctr">
              <a:spcAft>
                <a:spcPts val="300"/>
              </a:spcAft>
              <a:defRPr sz="1600" b="1">
                <a:solidFill>
                  <a:srgbClr val="F59E0B"/>
                </a:solidFill>
                <a:latin typeface="Segoe UI"/>
              </a:defRPr>
            </a:pPr>
            <a:r>
              <a:t>03  |  Terminal Congestion Blindspots</a:t>
            </a:r>
          </a:p>
          <a:p>
            <a:pPr>
              <a:defRPr sz="1300">
                <a:solidFill>
                  <a:srgbClr val="E8F0FE"/>
                </a:solidFill>
                <a:latin typeface="Segoe UI"/>
              </a:defRPr>
            </a:pPr>
            <a:r>
              <a:t>Travelers face unpredictable security and check-in queue lengths, causing stress and poor time management inside terminal halls.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212080"/>
            <a:ext cx="10728655" cy="1005840"/>
          </a:xfrm>
          <a:prstGeom prst="rect">
            <a:avLst/>
          </a:prstGeom>
          <a:solidFill>
            <a:srgbClr val="14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/>
          <a:lstStyle/>
          <a:p>
            <a:pPr algn="ctr">
              <a:spcAft>
                <a:spcPts val="300"/>
              </a:spcAft>
              <a:defRPr sz="1600" b="1">
                <a:solidFill>
                  <a:srgbClr val="F59E0B"/>
                </a:solidFill>
                <a:latin typeface="Segoe UI"/>
              </a:defRPr>
            </a:pPr>
            <a:r>
              <a:t>04  |  Inaccessible Assistance Booking</a:t>
            </a:r>
          </a:p>
          <a:p>
            <a:pPr>
              <a:defRPr sz="1300">
                <a:solidFill>
                  <a:srgbClr val="E8F0FE"/>
                </a:solidFill>
                <a:latin typeface="Segoe UI"/>
              </a:defRPr>
            </a:pPr>
            <a:r>
              <a:t>Elderly or disabled passengers endure slow manual paperwork and verification barriers when requesting buggy or wheelchair services.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63B3FF"/>
                </a:solidFill>
                <a:latin typeface="Segoe UI"/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8899BB"/>
                </a:solidFill>
                <a:latin typeface="Segoe UI"/>
              </a:defRPr>
            </a:pPr>
            <a:r>
              <a:t>AeroVision — A Unified Flight-Driven Intelligence &amp; Navigation 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2011680"/>
          </a:xfrm>
          <a:prstGeom prst="rect">
            <a:avLst/>
          </a:prstGeom>
          <a:solidFill>
            <a:srgbClr val="141C2E"/>
          </a:solidFill>
          <a:ln w="19050">
            <a:solidFill>
              <a:srgbClr val="63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800" b="1">
                <a:solidFill>
                  <a:srgbClr val="63B3FF"/>
                </a:solidFill>
                <a:latin typeface="Segoe UI"/>
              </a:defRPr>
            </a:pPr>
            <a:r>
              <a:t>Live FIDS &amp; Space Radar</a:t>
            </a:r>
          </a:p>
          <a:p>
            <a:pPr>
              <a:lnSpc>
                <a:spcPct val="115000"/>
              </a:lnSpc>
              <a:defRPr sz="1300">
                <a:solidFill>
                  <a:srgbClr val="E8F0FE"/>
                </a:solidFill>
                <a:latin typeface="Segoe UI"/>
              </a:defRPr>
            </a:pPr>
            <a:r>
              <a:t>An integrated departures/arrivals board coupled with a moving aircraft tracking map that visualizes approaches and departures relative to airport coordinates.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645920"/>
            <a:ext cx="5120640" cy="2011680"/>
          </a:xfrm>
          <a:prstGeom prst="rect">
            <a:avLst/>
          </a:prstGeom>
          <a:solidFill>
            <a:srgbClr val="141C2E"/>
          </a:solidFill>
          <a:ln w="19050">
            <a:solidFill>
              <a:srgbClr val="63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800" b="1">
                <a:solidFill>
                  <a:srgbClr val="63B3FF"/>
                </a:solidFill>
                <a:latin typeface="Segoe UI"/>
              </a:defRPr>
            </a:pPr>
            <a:r>
              <a:t>Indoor Pathfinding Navigation</a:t>
            </a:r>
          </a:p>
          <a:p>
            <a:pPr>
              <a:lnSpc>
                <a:spcPct val="115000"/>
              </a:lnSpc>
              <a:defRPr sz="1300">
                <a:solidFill>
                  <a:srgbClr val="E8F0FE"/>
                </a:solidFill>
                <a:latin typeface="Segoe UI"/>
              </a:defRPr>
            </a:pPr>
            <a:r>
              <a:t>Interactive SVG maps of Terminal 1 and Terminal 2 mapping gates, restaurants, and baggage belts with built-in route planning for passengers.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023360"/>
            <a:ext cx="5120640" cy="2011680"/>
          </a:xfrm>
          <a:prstGeom prst="rect">
            <a:avLst/>
          </a:prstGeom>
          <a:solidFill>
            <a:srgbClr val="141C2E"/>
          </a:solidFill>
          <a:ln w="19050">
            <a:solidFill>
              <a:srgbClr val="63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800" b="1">
                <a:solidFill>
                  <a:srgbClr val="63B3FF"/>
                </a:solidFill>
                <a:latin typeface="Segoe UI"/>
              </a:defRPr>
            </a:pPr>
            <a:r>
              <a:t>Flight-Driven Crowd Analytics</a:t>
            </a:r>
          </a:p>
          <a:p>
            <a:pPr>
              <a:lnSpc>
                <a:spcPct val="115000"/>
              </a:lnSpc>
              <a:defRPr sz="1300">
                <a:solidFill>
                  <a:srgbClr val="E8F0FE"/>
                </a:solidFill>
                <a:latin typeface="Segoe UI"/>
              </a:defRPr>
            </a:pPr>
            <a:r>
              <a:t>Estimates terminal check-in, security, and immigration queue wait-times dynamically based on real-time flight density and passenger load equations.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4023360"/>
            <a:ext cx="5120640" cy="2011680"/>
          </a:xfrm>
          <a:prstGeom prst="rect">
            <a:avLst/>
          </a:prstGeom>
          <a:solidFill>
            <a:srgbClr val="141C2E"/>
          </a:solidFill>
          <a:ln w="19050">
            <a:solidFill>
              <a:srgbClr val="63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800" b="1">
                <a:solidFill>
                  <a:srgbClr val="63B3FF"/>
                </a:solidFill>
                <a:latin typeface="Segoe UI"/>
              </a:defRPr>
            </a:pPr>
            <a:r>
              <a:t>Assist &amp; Travel Planner</a:t>
            </a:r>
          </a:p>
          <a:p>
            <a:pPr>
              <a:lnSpc>
                <a:spcPct val="115000"/>
              </a:lnSpc>
              <a:defRPr sz="1300">
                <a:solidFill>
                  <a:srgbClr val="E8F0FE"/>
                </a:solidFill>
                <a:latin typeface="Segoe UI"/>
              </a:defRPr>
            </a:pPr>
            <a:r>
              <a:t>Features browser-based Aadhaar OCR checking to auto-approve senior assistance, and OSRM route calculations using time-of-day traffic multipliers.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63B3FF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337560" cy="4572000"/>
          </a:xfrm>
          <a:prstGeom prst="rect">
            <a:avLst/>
          </a:prstGeom>
          <a:solidFill>
            <a:srgbClr val="141C2E"/>
          </a:solidFill>
          <a:ln w="19050">
            <a:solidFill>
              <a:srgbClr val="63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2000"/>
              </a:spcAft>
              <a:defRPr sz="2000" b="1">
                <a:solidFill>
                  <a:srgbClr val="63B3FF"/>
                </a:solidFill>
                <a:latin typeface="Segoe UI"/>
              </a:defRPr>
            </a:pPr>
            <a:r>
              <a:t>Frontend Stack</a:t>
            </a:r>
          </a:p>
          <a:p>
            <a:pPr>
              <a:spcAft>
                <a:spcPts val="1000"/>
              </a:spcAft>
              <a:defRPr sz="1200">
                <a:solidFill>
                  <a:srgbClr val="E8F0FE"/>
                </a:solidFill>
                <a:latin typeface="Segoe UI"/>
              </a:defRPr>
            </a:pPr>
            <a:r>
              <a:t>• React.js 18 (Component-based architecture)</a:t>
            </a:r>
          </a:p>
          <a:p>
            <a:pPr>
              <a:spcAft>
                <a:spcPts val="1000"/>
              </a:spcAft>
              <a:defRPr sz="1200">
                <a:solidFill>
                  <a:srgbClr val="E8F0FE"/>
                </a:solidFill>
                <a:latin typeface="Segoe UI"/>
              </a:defRPr>
            </a:pPr>
            <a:r>
              <a:t>• Vite (Next-generation frontend toolchain)</a:t>
            </a:r>
          </a:p>
          <a:p>
            <a:pPr>
              <a:spcAft>
                <a:spcPts val="1000"/>
              </a:spcAft>
              <a:defRPr sz="1200">
                <a:solidFill>
                  <a:srgbClr val="E8F0FE"/>
                </a:solidFill>
                <a:latin typeface="Segoe UI"/>
              </a:defRPr>
            </a:pPr>
            <a:r>
              <a:t>• Tailwind CSS (Adaptive design tokens)</a:t>
            </a:r>
          </a:p>
          <a:p>
            <a:pPr>
              <a:spcAft>
                <a:spcPts val="1000"/>
              </a:spcAft>
              <a:defRPr sz="1200">
                <a:solidFill>
                  <a:srgbClr val="E8F0FE"/>
                </a:solidFill>
                <a:latin typeface="Segoe UI"/>
              </a:defRPr>
            </a:pPr>
            <a:r>
              <a:t>• Leaflet.js (Interactive airspace radar)</a:t>
            </a:r>
          </a:p>
          <a:p>
            <a:pPr>
              <a:spcAft>
                <a:spcPts val="1000"/>
              </a:spcAft>
              <a:defRPr sz="1200">
                <a:solidFill>
                  <a:srgbClr val="E8F0FE"/>
                </a:solidFill>
                <a:latin typeface="Segoe UI"/>
              </a:defRPr>
            </a:pPr>
            <a:r>
              <a:t>• Axios (JWT authorization interceptors)</a:t>
            </a:r>
          </a:p>
          <a:p>
            <a:pPr>
              <a:spcAft>
                <a:spcPts val="1000"/>
              </a:spcAft>
              <a:defRPr sz="1200">
                <a:solidFill>
                  <a:srgbClr val="E8F0FE"/>
                </a:solidFill>
                <a:latin typeface="Segoe UI"/>
              </a:defRPr>
            </a:pPr>
            <a:r>
              <a:t>• Tesseract.js (Client-side image OCR)</a:t>
            </a:r>
          </a:p>
        </p:txBody>
      </p:sp>
      <p:sp>
        <p:nvSpPr>
          <p:cNvPr id="4" name="Rectangle 3"/>
          <p:cNvSpPr/>
          <p:nvPr/>
        </p:nvSpPr>
        <p:spPr>
          <a:xfrm>
            <a:off x="4434840" y="1371600"/>
            <a:ext cx="3337560" cy="4572000"/>
          </a:xfrm>
          <a:prstGeom prst="rect">
            <a:avLst/>
          </a:prstGeom>
          <a:solidFill>
            <a:srgbClr val="141C2E"/>
          </a:solidFill>
          <a:ln w="19050">
            <a:solidFill>
              <a:srgbClr val="63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2000"/>
              </a:spcAft>
              <a:defRPr sz="2000" b="1">
                <a:solidFill>
                  <a:srgbClr val="63B3FF"/>
                </a:solidFill>
                <a:latin typeface="Segoe UI"/>
              </a:defRPr>
            </a:pPr>
            <a:r>
              <a:t>Backend &amp; DB</a:t>
            </a:r>
          </a:p>
          <a:p>
            <a:pPr>
              <a:spcAft>
                <a:spcPts val="1000"/>
              </a:spcAft>
              <a:defRPr sz="1200">
                <a:solidFill>
                  <a:srgbClr val="E8F0FE"/>
                </a:solidFill>
                <a:latin typeface="Segoe UI"/>
              </a:defRPr>
            </a:pPr>
            <a:r>
              <a:t>• Node.js (Server runtime engine)</a:t>
            </a:r>
          </a:p>
          <a:p>
            <a:pPr>
              <a:spcAft>
                <a:spcPts val="1000"/>
              </a:spcAft>
              <a:defRPr sz="1200">
                <a:solidFill>
                  <a:srgbClr val="E8F0FE"/>
                </a:solidFill>
                <a:latin typeface="Segoe UI"/>
              </a:defRPr>
            </a:pPr>
            <a:r>
              <a:t>• Express.js (REST API endpoint router)</a:t>
            </a:r>
          </a:p>
          <a:p>
            <a:pPr>
              <a:spcAft>
                <a:spcPts val="1000"/>
              </a:spcAft>
              <a:defRPr sz="1200">
                <a:solidFill>
                  <a:srgbClr val="E8F0FE"/>
                </a:solidFill>
                <a:latin typeface="Segoe UI"/>
              </a:defRPr>
            </a:pPr>
            <a:r>
              <a:t>• SQL.js (SQLite-compatible backend DB)</a:t>
            </a:r>
          </a:p>
          <a:p>
            <a:pPr>
              <a:spcAft>
                <a:spcPts val="1000"/>
              </a:spcAft>
              <a:defRPr sz="1200">
                <a:solidFill>
                  <a:srgbClr val="E8F0FE"/>
                </a:solidFill>
                <a:latin typeface="Segoe UI"/>
              </a:defRPr>
            </a:pPr>
            <a:r>
              <a:t>• Socket.IO (WebSocket push event engine)</a:t>
            </a:r>
          </a:p>
          <a:p>
            <a:pPr>
              <a:spcAft>
                <a:spcPts val="1000"/>
              </a:spcAft>
              <a:defRPr sz="1200">
                <a:solidFill>
                  <a:srgbClr val="E8F0FE"/>
                </a:solidFill>
                <a:latin typeface="Segoe UI"/>
              </a:defRPr>
            </a:pPr>
            <a:r>
              <a:t>• node-fetch (External API connection client)</a:t>
            </a:r>
          </a:p>
          <a:p>
            <a:pPr>
              <a:spcAft>
                <a:spcPts val="1000"/>
              </a:spcAft>
              <a:defRPr sz="1200">
                <a:solidFill>
                  <a:srgbClr val="E8F0FE"/>
                </a:solidFill>
                <a:latin typeface="Segoe UI"/>
              </a:defRPr>
            </a:pPr>
            <a:r>
              <a:t>• Helmet &amp; Compression (Security &amp; speed)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8138160" y="1371600"/>
            <a:ext cx="3337560" cy="4572000"/>
          </a:xfrm>
          <a:prstGeom prst="rect">
            <a:avLst/>
          </a:prstGeom>
          <a:solidFill>
            <a:srgbClr val="141C2E"/>
          </a:solidFill>
          <a:ln w="19050">
            <a:solidFill>
              <a:srgbClr val="63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2000"/>
              </a:spcAft>
              <a:defRPr sz="2000" b="1">
                <a:solidFill>
                  <a:srgbClr val="63B3FF"/>
                </a:solidFill>
                <a:latin typeface="Segoe UI"/>
              </a:defRPr>
            </a:pPr>
            <a:r>
              <a:t>External APIs &amp; Feeds</a:t>
            </a:r>
          </a:p>
          <a:p>
            <a:pPr>
              <a:spcAft>
                <a:spcPts val="1000"/>
              </a:spcAft>
              <a:defRPr sz="1200">
                <a:solidFill>
                  <a:srgbClr val="E8F0FE"/>
                </a:solidFill>
                <a:latin typeface="Segoe UI"/>
              </a:defRPr>
            </a:pPr>
            <a:r>
              <a:t>• AeroDataBox API (Schedules &amp; gates)</a:t>
            </a:r>
          </a:p>
          <a:p>
            <a:pPr>
              <a:spcAft>
                <a:spcPts val="1000"/>
              </a:spcAft>
              <a:defRPr sz="1200">
                <a:solidFill>
                  <a:srgbClr val="E8F0FE"/>
                </a:solidFill>
                <a:latin typeface="Segoe UI"/>
              </a:defRPr>
            </a:pPr>
            <a:r>
              <a:t>• OpenWeather API (Airfield METAR weather)</a:t>
            </a:r>
          </a:p>
          <a:p>
            <a:pPr>
              <a:spcAft>
                <a:spcPts val="1000"/>
              </a:spcAft>
              <a:defRPr sz="1200">
                <a:solidFill>
                  <a:srgbClr val="E8F0FE"/>
                </a:solidFill>
                <a:latin typeface="Segoe UI"/>
              </a:defRPr>
            </a:pPr>
            <a:r>
              <a:t>• OpenRouteService (Travel planning geocode)</a:t>
            </a:r>
          </a:p>
          <a:p>
            <a:pPr>
              <a:spcAft>
                <a:spcPts val="1000"/>
              </a:spcAft>
              <a:defRPr sz="1200">
                <a:solidFill>
                  <a:srgbClr val="E8F0FE"/>
                </a:solidFill>
                <a:latin typeface="Segoe UI"/>
              </a:defRPr>
            </a:pPr>
            <a:r>
              <a:t>• OSRM Project (Keyless driving routing)</a:t>
            </a:r>
          </a:p>
          <a:p>
            <a:pPr>
              <a:spcAft>
                <a:spcPts val="1000"/>
              </a:spcAft>
              <a:defRPr sz="1200">
                <a:solidFill>
                  <a:srgbClr val="E8F0FE"/>
                </a:solidFill>
                <a:latin typeface="Segoe UI"/>
              </a:defRPr>
            </a:pPr>
            <a:r>
              <a:t>• Nominatim (Alternative geocoding feed)</a:t>
            </a:r>
          </a:p>
          <a:p>
            <a:pPr>
              <a:spcAft>
                <a:spcPts val="1000"/>
              </a:spcAft>
              <a:defRPr sz="1200">
                <a:solidFill>
                  <a:srgbClr val="E8F0FE"/>
                </a:solidFill>
                <a:latin typeface="Segoe UI"/>
              </a:defRPr>
            </a:pPr>
            <a:r>
              <a:t>• Hugging Face Inference (AI chat completions)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63B3FF"/>
                </a:solidFill>
                <a:latin typeface="Segoe UI"/>
              </a:defRPr>
            </a:pPr>
            <a:r>
              <a:t>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097280"/>
          </a:xfrm>
          <a:prstGeom prst="rect">
            <a:avLst/>
          </a:prstGeom>
          <a:solidFill>
            <a:srgbClr val="141C2E"/>
          </a:solidFill>
          <a:ln w="12700">
            <a:solidFill>
              <a:srgbClr val="63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37160"/>
          <a:lstStyle/>
          <a:p>
            <a:pPr algn="ctr">
              <a:spcAft>
                <a:spcPts val="400"/>
              </a:spcAft>
              <a:defRPr sz="1600" b="1">
                <a:solidFill>
                  <a:srgbClr val="63B3FF"/>
                </a:solidFill>
                <a:latin typeface="Segoe UI"/>
              </a:defRPr>
            </a:pPr>
            <a:r>
              <a:t>01  |  Flight Search &amp; FIDS</a:t>
            </a:r>
          </a:p>
          <a:p>
            <a:pPr>
              <a:defRPr sz="1300">
                <a:solidFill>
                  <a:srgbClr val="E8F0FE"/>
                </a:solidFill>
                <a:latin typeface="Segoe UI"/>
              </a:defRPr>
            </a:pPr>
            <a:r>
              <a:t>User logs in, enters a flight number. The backend queries AeroDataBox API (or local mock DB) to retrieve schedules, gate numbers, and terminal routes.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651760"/>
            <a:ext cx="10728655" cy="1097280"/>
          </a:xfrm>
          <a:prstGeom prst="rect">
            <a:avLst/>
          </a:prstGeom>
          <a:solidFill>
            <a:srgbClr val="141C2E"/>
          </a:solidFill>
          <a:ln w="12700">
            <a:solidFill>
              <a:srgbClr val="63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37160"/>
          <a:lstStyle/>
          <a:p>
            <a:pPr algn="ctr">
              <a:spcAft>
                <a:spcPts val="400"/>
              </a:spcAft>
              <a:defRPr sz="1600" b="1">
                <a:solidFill>
                  <a:srgbClr val="63B3FF"/>
                </a:solidFill>
                <a:latin typeface="Segoe UI"/>
              </a:defRPr>
            </a:pPr>
            <a:r>
              <a:t>02  |  Travel Route Plan</a:t>
            </a:r>
          </a:p>
          <a:p>
            <a:pPr>
              <a:defRPr sz="1300">
                <a:solidFill>
                  <a:srgbClr val="E8F0FE"/>
                </a:solidFill>
                <a:latin typeface="Segoe UI"/>
              </a:defRPr>
            </a:pPr>
            <a:r>
              <a:t>The user inputs their location. OSRM computes the driving distance and the backend applies IST-based traffic multipliers for a realistic commute duration.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931920"/>
            <a:ext cx="10728655" cy="1097280"/>
          </a:xfrm>
          <a:prstGeom prst="rect">
            <a:avLst/>
          </a:prstGeom>
          <a:solidFill>
            <a:srgbClr val="141C2E"/>
          </a:solidFill>
          <a:ln w="12700">
            <a:solidFill>
              <a:srgbClr val="63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37160"/>
          <a:lstStyle/>
          <a:p>
            <a:pPr algn="ctr">
              <a:spcAft>
                <a:spcPts val="400"/>
              </a:spcAft>
              <a:defRPr sz="1600" b="1">
                <a:solidFill>
                  <a:srgbClr val="63B3FF"/>
                </a:solidFill>
                <a:latin typeface="Segoe UI"/>
              </a:defRPr>
            </a:pPr>
            <a:r>
              <a:t>03  |  Queue Wait Estimation</a:t>
            </a:r>
          </a:p>
          <a:p>
            <a:pPr>
              <a:defRPr sz="1300">
                <a:solidFill>
                  <a:srgbClr val="E8F0FE"/>
                </a:solidFill>
                <a:latin typeface="Segoe UI"/>
              </a:defRPr>
            </a:pPr>
            <a:r>
              <a:t>The crowd engine calculates check-in, security, and immigration density levels based on flight counts and passenger loads in a 3-hour window.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212079"/>
            <a:ext cx="10728655" cy="1097280"/>
          </a:xfrm>
          <a:prstGeom prst="rect">
            <a:avLst/>
          </a:prstGeom>
          <a:solidFill>
            <a:srgbClr val="141C2E"/>
          </a:solidFill>
          <a:ln w="12700">
            <a:solidFill>
              <a:srgbClr val="63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37160"/>
          <a:lstStyle/>
          <a:p>
            <a:pPr algn="ctr">
              <a:spcAft>
                <a:spcPts val="400"/>
              </a:spcAft>
              <a:defRPr sz="1600" b="1">
                <a:solidFill>
                  <a:srgbClr val="63B3FF"/>
                </a:solidFill>
                <a:latin typeface="Segoe UI"/>
              </a:defRPr>
            </a:pPr>
            <a:r>
              <a:t>04  |  Mobility OCR Booking</a:t>
            </a:r>
          </a:p>
          <a:p>
            <a:pPr>
              <a:defRPr sz="1300">
                <a:solidFill>
                  <a:srgbClr val="E8F0FE"/>
                </a:solidFill>
                <a:latin typeface="Segoe UI"/>
              </a:defRPr>
            </a:pPr>
            <a:r>
              <a:t>The user uploads an Aadhaar card. Client-side Tesseract.js extracts the DOB, verifies senior status, and auto-approves wheelchair/buggy booking.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63B3FF"/>
                </a:solidFill>
                <a:latin typeface="Segoe UI"/>
              </a:defRPr>
            </a:pPr>
            <a: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474720" cy="2194560"/>
          </a:xfrm>
          <a:prstGeom prst="rect">
            <a:avLst/>
          </a:prstGeom>
          <a:solidFill>
            <a:srgbClr val="141C2E"/>
          </a:solidFill>
          <a:ln w="19050">
            <a:solidFill>
              <a:srgbClr val="63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63B3FF"/>
                </a:solidFill>
                <a:latin typeface="Segoe UI"/>
              </a:defRPr>
            </a:pPr>
            <a:r>
              <a:t>Live Flight Board</a:t>
            </a:r>
          </a:p>
          <a:p>
            <a:pPr>
              <a:lnSpc>
                <a:spcPct val="115000"/>
              </a:lnSpc>
              <a:defRPr sz="1200">
                <a:solidFill>
                  <a:srgbClr val="E8F0FE"/>
                </a:solidFill>
                <a:latin typeface="Segoe UI"/>
              </a:defRPr>
            </a:pPr>
            <a:r>
              <a:t>Real-time departures and arrivals with dynamic gate, terminal, and status updates, supported by live cron refreshes.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43400" y="1371600"/>
            <a:ext cx="3474720" cy="2194560"/>
          </a:xfrm>
          <a:prstGeom prst="rect">
            <a:avLst/>
          </a:prstGeom>
          <a:solidFill>
            <a:srgbClr val="141C2E"/>
          </a:solidFill>
          <a:ln w="19050">
            <a:solidFill>
              <a:srgbClr val="63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63B3FF"/>
                </a:solidFill>
                <a:latin typeface="Segoe UI"/>
              </a:defRPr>
            </a:pPr>
            <a:r>
              <a:t>Airspace Radar Map</a:t>
            </a:r>
          </a:p>
          <a:p>
            <a:pPr>
              <a:lnSpc>
                <a:spcPct val="115000"/>
              </a:lnSpc>
              <a:defRPr sz="1200">
                <a:solidFill>
                  <a:srgbClr val="E8F0FE"/>
                </a:solidFill>
                <a:latin typeface="Segoe UI"/>
              </a:defRPr>
            </a:pPr>
            <a:r>
              <a:t>Interactive map plotting moving flights. Real-time trajectory rendering based on active flight windows (90 mins).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79" y="1371600"/>
            <a:ext cx="3474720" cy="2194560"/>
          </a:xfrm>
          <a:prstGeom prst="rect">
            <a:avLst/>
          </a:prstGeom>
          <a:solidFill>
            <a:srgbClr val="141C2E"/>
          </a:solidFill>
          <a:ln w="19050">
            <a:solidFill>
              <a:srgbClr val="63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63B3FF"/>
                </a:solidFill>
                <a:latin typeface="Segoe UI"/>
              </a:defRPr>
            </a:pPr>
            <a:r>
              <a:t>Interactive SVG Terminal</a:t>
            </a:r>
          </a:p>
          <a:p>
            <a:pPr>
              <a:lnSpc>
                <a:spcPct val="115000"/>
              </a:lnSpc>
              <a:defRPr sz="1200">
                <a:solidFill>
                  <a:srgbClr val="E8F0FE"/>
                </a:solidFill>
                <a:latin typeface="Segoe UI"/>
              </a:defRPr>
            </a:pPr>
            <a:r>
              <a:t>Detailed indoor terminal layout showing gates, lounges, restrooms, and shops with route drawing pathfinding.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931920"/>
            <a:ext cx="3474720" cy="2194560"/>
          </a:xfrm>
          <a:prstGeom prst="rect">
            <a:avLst/>
          </a:prstGeom>
          <a:solidFill>
            <a:srgbClr val="141C2E"/>
          </a:solidFill>
          <a:ln w="19050">
            <a:solidFill>
              <a:srgbClr val="63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63B3FF"/>
                </a:solidFill>
                <a:latin typeface="Segoe UI"/>
              </a:defRPr>
            </a:pPr>
            <a:r>
              <a:t>Zone Queue Congestion</a:t>
            </a:r>
          </a:p>
          <a:p>
            <a:pPr>
              <a:lnSpc>
                <a:spcPct val="115000"/>
              </a:lnSpc>
              <a:defRPr sz="1200">
                <a:solidFill>
                  <a:srgbClr val="E8F0FE"/>
                </a:solidFill>
                <a:latin typeface="Segoe UI"/>
              </a:defRPr>
            </a:pPr>
            <a:r>
              <a:t>Real-time queue wait-time calculations for check-in and security driven by passenger volumes and delays.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3931920"/>
            <a:ext cx="3474720" cy="2194560"/>
          </a:xfrm>
          <a:prstGeom prst="rect">
            <a:avLst/>
          </a:prstGeom>
          <a:solidFill>
            <a:srgbClr val="141C2E"/>
          </a:solidFill>
          <a:ln w="19050">
            <a:solidFill>
              <a:srgbClr val="63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63B3FF"/>
                </a:solidFill>
                <a:latin typeface="Segoe UI"/>
              </a:defRPr>
            </a:pPr>
            <a:r>
              <a:t>Traffic Travel Planner</a:t>
            </a:r>
          </a:p>
          <a:p>
            <a:pPr>
              <a:lnSpc>
                <a:spcPct val="115000"/>
              </a:lnSpc>
              <a:defRPr sz="1200">
                <a:solidFill>
                  <a:srgbClr val="E8F0FE"/>
                </a:solidFill>
                <a:latin typeface="Segoe UI"/>
              </a:defRPr>
            </a:pPr>
            <a:r>
              <a:t>GPS-based route mapping with automatic peak/off-peak travel time adjustments matching Bangalore traffic hours.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79" y="3931920"/>
            <a:ext cx="3474720" cy="2194560"/>
          </a:xfrm>
          <a:prstGeom prst="rect">
            <a:avLst/>
          </a:prstGeom>
          <a:solidFill>
            <a:srgbClr val="141C2E"/>
          </a:solidFill>
          <a:ln w="19050">
            <a:solidFill>
              <a:srgbClr val="63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63B3FF"/>
                </a:solidFill>
                <a:latin typeface="Segoe UI"/>
              </a:defRPr>
            </a:pPr>
            <a:r>
              <a:t>AI Chatbot Assistant</a:t>
            </a:r>
          </a:p>
          <a:p>
            <a:pPr>
              <a:lnSpc>
                <a:spcPct val="115000"/>
              </a:lnSpc>
              <a:defRPr sz="1200">
                <a:solidFill>
                  <a:srgbClr val="E8F0FE"/>
                </a:solidFill>
                <a:latin typeface="Segoe UI"/>
              </a:defRPr>
            </a:pPr>
            <a:r>
              <a:t>Context-aware AI assistant answering passenger queries about gates, airport services, and airport directions.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63B3FF"/>
                </a:solidFill>
                <a:latin typeface="Segoe UI"/>
              </a:defRPr>
            </a:pPr>
            <a:r>
              <a:t>CHALLENGES &amp; 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548640"/>
          </a:xfrm>
          <a:prstGeom prst="rect">
            <a:avLst/>
          </a:prstGeom>
          <a:solidFill>
            <a:srgbClr val="BE5A00"/>
          </a:solidFill>
          <a:ln>
            <a:solidFill>
              <a:srgbClr val="080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E8F0FE"/>
                </a:solidFill>
                <a:latin typeface="Segoe UI"/>
              </a:defRPr>
            </a:pPr>
            <a:r>
              <a:t>⚠️ 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309360" y="1371600"/>
            <a:ext cx="5120640" cy="548640"/>
          </a:xfrm>
          <a:prstGeom prst="rect">
            <a:avLst/>
          </a:prstGeom>
          <a:solidFill>
            <a:srgbClr val="0F6E1E"/>
          </a:solidFill>
          <a:ln>
            <a:solidFill>
              <a:srgbClr val="080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E8F0FE"/>
                </a:solidFill>
                <a:latin typeface="Segoe UI"/>
              </a:defRPr>
            </a:pPr>
            <a:r>
              <a:t>✔️ 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65960"/>
            <a:ext cx="5120640" cy="868680"/>
          </a:xfrm>
          <a:prstGeom prst="rect">
            <a:avLst/>
          </a:prstGeom>
          <a:solidFill>
            <a:srgbClr val="141C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/>
          <a:lstStyle/>
          <a:p>
            <a:pPr algn="ctr">
              <a:spcAft>
                <a:spcPts val="2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Database Concurrency Crashes</a:t>
            </a:r>
          </a:p>
          <a:p>
            <a:pPr>
              <a:defRPr sz="1100">
                <a:solidFill>
                  <a:srgbClr val="E8F0FE"/>
                </a:solidFill>
                <a:latin typeface="Segoe UI"/>
              </a:defRPr>
            </a:pPr>
            <a:r>
              <a:t>SQL.js wrapper threw errors on `.catch` calls when executing queries.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965960"/>
            <a:ext cx="5120640" cy="868680"/>
          </a:xfrm>
          <a:prstGeom prst="rect">
            <a:avLst/>
          </a:prstGeom>
          <a:solidFill>
            <a:srgbClr val="141C2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/>
          <a:lstStyle/>
          <a:p>
            <a:pPr algn="ctr">
              <a:defRPr sz="1100">
                <a:solidFill>
                  <a:srgbClr val="E8F0FE"/>
                </a:solidFill>
                <a:latin typeface="Segoe UI"/>
              </a:defRPr>
            </a:pPr>
            <a:r>
              <a:t>Converted the query method to `async` to wrap row outputs in promises, resolving crashes.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880360"/>
            <a:ext cx="5120640" cy="868680"/>
          </a:xfrm>
          <a:prstGeom prst="rect">
            <a:avLst/>
          </a:prstGeom>
          <a:solidFill>
            <a:srgbClr val="141C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/>
          <a:lstStyle/>
          <a:p>
            <a:pPr algn="ctr">
              <a:spcAft>
                <a:spcPts val="2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Routing API Key Restrictions</a:t>
            </a:r>
          </a:p>
          <a:p>
            <a:pPr>
              <a:defRPr sz="1100">
                <a:solidFill>
                  <a:srgbClr val="E8F0FE"/>
                </a:solidFill>
                <a:latin typeface="Segoe UI"/>
              </a:defRPr>
            </a:pPr>
            <a:r>
              <a:t>TomTom API keys got revoked, blocking geocoding and travel route planning.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2880360"/>
            <a:ext cx="5120640" cy="868680"/>
          </a:xfrm>
          <a:prstGeom prst="rect">
            <a:avLst/>
          </a:prstGeom>
          <a:solidFill>
            <a:srgbClr val="141C2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/>
          <a:lstStyle/>
          <a:p>
            <a:pPr algn="ctr">
              <a:defRPr sz="1100">
                <a:solidFill>
                  <a:srgbClr val="E8F0FE"/>
                </a:solidFill>
                <a:latin typeface="Segoe UI"/>
              </a:defRPr>
            </a:pPr>
            <a:r>
              <a:t>Replaced TomTom with OpenRouteService, and integrated keyless OSRM/Nominatim fallbacks.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794760"/>
            <a:ext cx="5120640" cy="868680"/>
          </a:xfrm>
          <a:prstGeom prst="rect">
            <a:avLst/>
          </a:prstGeom>
          <a:solidFill>
            <a:srgbClr val="141C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/>
          <a:lstStyle/>
          <a:p>
            <a:pPr algn="ctr">
              <a:spcAft>
                <a:spcPts val="2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Vite CSS Tailwind Purging</a:t>
            </a:r>
          </a:p>
          <a:p>
            <a:pPr>
              <a:defRPr sz="1100">
                <a:solidFill>
                  <a:srgbClr val="E8F0FE"/>
                </a:solidFill>
                <a:latin typeface="Segoe UI"/>
              </a:defRPr>
            </a:pPr>
            <a:r>
              <a:t>Babel JSX compile error broke Hot Module Reloading, causing unstyled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794760"/>
            <a:ext cx="5120640" cy="868680"/>
          </a:xfrm>
          <a:prstGeom prst="rect">
            <a:avLst/>
          </a:prstGeom>
          <a:solidFill>
            <a:srgbClr val="141C2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/>
          <a:lstStyle/>
          <a:p>
            <a:pPr algn="ctr">
              <a:defRPr sz="1100">
                <a:solidFill>
                  <a:srgbClr val="E8F0FE"/>
                </a:solidFill>
                <a:latin typeface="Segoe UI"/>
              </a:defRPr>
            </a:pPr>
            <a:r>
              <a:t>Fixed raw unicode character syntax in NotificationPanel, cleared Vite cache, and rebuilt CSS.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709160"/>
            <a:ext cx="5120640" cy="868680"/>
          </a:xfrm>
          <a:prstGeom prst="rect">
            <a:avLst/>
          </a:prstGeom>
          <a:solidFill>
            <a:srgbClr val="141C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/>
          <a:lstStyle/>
          <a:p>
            <a:pPr algn="ctr">
              <a:spcAft>
                <a:spcPts val="2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Radar Plane Clustering</a:t>
            </a:r>
          </a:p>
          <a:p>
            <a:pPr>
              <a:defRPr sz="1100">
                <a:solidFill>
                  <a:srgbClr val="E8F0FE"/>
                </a:solidFill>
                <a:latin typeface="Segoe UI"/>
              </a:defRPr>
            </a:pPr>
            <a:r>
              <a:t>Simulated planes clustered in static circles right on top of the airport.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4709160"/>
            <a:ext cx="5120640" cy="868680"/>
          </a:xfrm>
          <a:prstGeom prst="rect">
            <a:avLst/>
          </a:prstGeom>
          <a:solidFill>
            <a:srgbClr val="141C2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/>
          <a:lstStyle/>
          <a:p>
            <a:pPr algn="ctr">
              <a:defRPr sz="1100">
                <a:solidFill>
                  <a:srgbClr val="E8F0FE"/>
                </a:solidFill>
                <a:latin typeface="Segoe UI"/>
              </a:defRPr>
            </a:pPr>
            <a:r>
              <a:t>Created a rolling 90-minute time-window filter for active flights, dispersing planes along vectors.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623560"/>
            <a:ext cx="5120640" cy="868680"/>
          </a:xfrm>
          <a:prstGeom prst="rect">
            <a:avLst/>
          </a:prstGeom>
          <a:solidFill>
            <a:srgbClr val="141C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/>
          <a:lstStyle/>
          <a:p>
            <a:pPr algn="ctr">
              <a:spcAft>
                <a:spcPts val="2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Inaccurate Commute Times</a:t>
            </a:r>
          </a:p>
          <a:p>
            <a:pPr>
              <a:defRPr sz="1100">
                <a:solidFill>
                  <a:srgbClr val="E8F0FE"/>
                </a:solidFill>
                <a:latin typeface="Segoe UI"/>
              </a:defRPr>
            </a:pPr>
            <a:r>
              <a:t>Default OSRM route durations ignored Bengaluru's extreme street gridlocks.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5623560"/>
            <a:ext cx="5120640" cy="868680"/>
          </a:xfrm>
          <a:prstGeom prst="rect">
            <a:avLst/>
          </a:prstGeom>
          <a:solidFill>
            <a:srgbClr val="141C2E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/>
          <a:lstStyle/>
          <a:p>
            <a:pPr algn="ctr">
              <a:defRPr sz="1100">
                <a:solidFill>
                  <a:srgbClr val="E8F0FE"/>
                </a:solidFill>
                <a:latin typeface="Segoe UI"/>
              </a:defRPr>
            </a:pPr>
            <a:r>
              <a:t>Implemented dynamic time-of-day traffic multipliers in IST (e.g. 1.95x during peak office hours).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63B3FF"/>
                </a:solidFill>
                <a:latin typeface="Segoe UI"/>
              </a:defRPr>
            </a:pPr>
            <a:r>
              <a:t>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2011680"/>
          </a:xfrm>
          <a:prstGeom prst="rect">
            <a:avLst/>
          </a:prstGeom>
          <a:solidFill>
            <a:srgbClr val="141C2E"/>
          </a:solidFill>
          <a:ln w="19050">
            <a:solidFill>
              <a:srgbClr val="63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800" b="1">
                <a:solidFill>
                  <a:srgbClr val="63B3FF"/>
                </a:solidFill>
                <a:latin typeface="Segoe UI"/>
              </a:defRPr>
            </a:pPr>
            <a:r>
              <a:t>AI Computer Vision Queue Monitoring</a:t>
            </a:r>
          </a:p>
          <a:p>
            <a:pPr>
              <a:lnSpc>
                <a:spcPct val="120000"/>
              </a:lnSpc>
              <a:defRPr sz="1300">
                <a:solidFill>
                  <a:srgbClr val="E8F0FE"/>
                </a:solidFill>
                <a:latin typeface="Segoe UI"/>
              </a:defRPr>
            </a:pPr>
            <a:r>
              <a:t>Integrate airport CCTV cameras with AI object-detection models (like YOLO) to scan video feeds and count the exact number of people in lines, providing 100% accurate queue wait-times.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309360" y="1645920"/>
            <a:ext cx="5120640" cy="2011680"/>
          </a:xfrm>
          <a:prstGeom prst="rect">
            <a:avLst/>
          </a:prstGeom>
          <a:solidFill>
            <a:srgbClr val="141C2E"/>
          </a:solidFill>
          <a:ln w="19050">
            <a:solidFill>
              <a:srgbClr val="63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800" b="1">
                <a:solidFill>
                  <a:srgbClr val="63B3FF"/>
                </a:solidFill>
                <a:latin typeface="Segoe UI"/>
              </a:defRPr>
            </a:pPr>
            <a:r>
              <a:t>Indoor Turn-by-Turn GPS (Beacons)</a:t>
            </a:r>
          </a:p>
          <a:p>
            <a:pPr>
              <a:lnSpc>
                <a:spcPct val="120000"/>
              </a:lnSpc>
              <a:defRPr sz="1300">
                <a:solidFill>
                  <a:srgbClr val="E8F0FE"/>
                </a:solidFill>
                <a:latin typeface="Segoe UI"/>
              </a:defRPr>
            </a:pPr>
            <a:r>
              <a:t>Deploy Bluetooth Low Energy (BLE) beacons inside the terminal to enable real-time, blue-dot turn-by-turn navigation guiding passengers from check-in directly to boarding gates.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023360"/>
            <a:ext cx="5120640" cy="2011680"/>
          </a:xfrm>
          <a:prstGeom prst="rect">
            <a:avLst/>
          </a:prstGeom>
          <a:solidFill>
            <a:srgbClr val="141C2E"/>
          </a:solidFill>
          <a:ln w="19050">
            <a:solidFill>
              <a:srgbClr val="63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800" b="1">
                <a:solidFill>
                  <a:srgbClr val="63B3FF"/>
                </a:solidFill>
                <a:latin typeface="Segoe UI"/>
              </a:defRPr>
            </a:pPr>
            <a:r>
              <a:t>DigiYatra / Biometric Integration</a:t>
            </a:r>
          </a:p>
          <a:p>
            <a:pPr>
              <a:lnSpc>
                <a:spcPct val="120000"/>
              </a:lnSpc>
              <a:defRPr sz="1300">
                <a:solidFill>
                  <a:srgbClr val="E8F0FE"/>
                </a:solidFill>
                <a:latin typeface="Segoe UI"/>
              </a:defRPr>
            </a:pPr>
            <a:r>
              <a:t>Incorporate facial recognition API endpoints to let passengers authenticate their identity and verify mobility assistance bookings instantly via a quick face scan.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4023360"/>
            <a:ext cx="5120640" cy="2011680"/>
          </a:xfrm>
          <a:prstGeom prst="rect">
            <a:avLst/>
          </a:prstGeom>
          <a:solidFill>
            <a:srgbClr val="141C2E"/>
          </a:solidFill>
          <a:ln w="19050">
            <a:solidFill>
              <a:srgbClr val="63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800" b="1">
                <a:solidFill>
                  <a:srgbClr val="63B3FF"/>
                </a:solidFill>
                <a:latin typeface="Segoe UI"/>
              </a:defRPr>
            </a:pPr>
            <a:r>
              <a:t>Predictive Baggage Tracking (RFID)</a:t>
            </a:r>
          </a:p>
          <a:p>
            <a:pPr>
              <a:lnSpc>
                <a:spcPct val="120000"/>
              </a:lnSpc>
              <a:defRPr sz="1300">
                <a:solidFill>
                  <a:srgbClr val="E8F0FE"/>
                </a:solidFill>
                <a:latin typeface="Segoe UI"/>
              </a:defRPr>
            </a:pPr>
            <a:r>
              <a:t>Utilize IoT RFID luggage tracking to display a live baggage status panel on the passenger dashboard showing exactly where their luggage is (loading, unloading, or carousel).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dia__17851311321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600" b="1">
                <a:solidFill>
                  <a:srgbClr val="63B3FF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4000" b="1">
                <a:solidFill>
                  <a:srgbClr val="63B3FF"/>
                </a:solidFill>
                <a:latin typeface="Segoe UI"/>
              </a:defRPr>
            </a:pPr>
            <a:r>
              <a:t>AeroVision</a:t>
            </a:r>
          </a:p>
          <a:p>
            <a:pPr algn="ctr">
              <a:spcAft>
                <a:spcPts val="3600"/>
              </a:spcAft>
              <a:defRPr sz="1600" i="1">
                <a:solidFill>
                  <a:srgbClr val="E8F0FE"/>
                </a:solidFill>
                <a:latin typeface="Segoe UI"/>
              </a:defRPr>
            </a:pPr>
            <a:r>
              <a:t>“A production-ready aviation intelligence web application for Kempegowda International Airport (BLR), Bengaluru, integrating live flight boards, terminal pathfinding, passenger crowd density analytics, and smart accessibility booking.”</a:t>
            </a:r>
          </a:p>
          <a:p>
            <a:pPr algn="ctr">
              <a:spcAft>
                <a:spcPts val="4800"/>
              </a:spcAft>
              <a:defRPr sz="1400" b="1">
                <a:solidFill>
                  <a:srgbClr val="63B3FF"/>
                </a:solidFill>
                <a:latin typeface="Segoe UI"/>
              </a:defRPr>
            </a:pPr>
            <a:r>
              <a:t>[ Accessibility-First Design ]     ·     [ Verified API Resilience ]     ·     [ Dynamic Operation Modeling ]</a:t>
            </a:r>
          </a:p>
          <a:p>
            <a:pPr algn="ctr">
              <a:spcAft>
                <a:spcPts val="800"/>
              </a:spcAft>
              <a:defRPr sz="2800" b="1">
                <a:solidFill>
                  <a:srgbClr val="22C55E"/>
                </a:solidFill>
                <a:latin typeface="Segoe UI"/>
              </a:defRPr>
            </a:pPr>
            <a:r>
              <a:t>Thank You!</a:t>
            </a:r>
          </a:p>
          <a:p>
            <a:pPr algn="ctr">
              <a:defRPr sz="1400">
                <a:solidFill>
                  <a:srgbClr val="8899BB"/>
                </a:solidFill>
                <a:latin typeface="Segoe UI"/>
              </a:defRPr>
            </a:pPr>
            <a:r>
              <a:t>Questions &amp; Feedback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